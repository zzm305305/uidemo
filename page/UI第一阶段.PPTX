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94" r:id="rId3"/>
    <p:sldId id="284" r:id="rId4"/>
    <p:sldId id="286" r:id="rId5"/>
    <p:sldId id="276" r:id="rId6"/>
    <p:sldId id="287" r:id="rId7"/>
    <p:sldId id="296" r:id="rId8"/>
    <p:sldId id="298" r:id="rId9"/>
    <p:sldId id="300" r:id="rId10"/>
    <p:sldId id="304" r:id="rId11"/>
    <p:sldId id="302" r:id="rId12"/>
    <p:sldId id="291" r:id="rId13"/>
    <p:sldId id="292" r:id="rId14"/>
    <p:sldId id="293" r:id="rId15"/>
    <p:sldId id="288" r:id="rId16"/>
    <p:sldId id="258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656BC-2AFA-46A7-BEF7-A2F49FA4EB3D}" type="datetimeFigureOut">
              <a:rPr lang="zh-CN" altLang="en-US" smtClean="0"/>
              <a:t>2015/9/2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713B3-3696-4AD0-A64D-0AA1157FE7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711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ecomfe.github.io/zrender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ode.google.com/p/explorercanvas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提供商业产品常用图表，底层基于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ZRender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（一个全新的轻量级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canvas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类库），创建了坐标系，图例，提示，工具箱等基础组件，并在此上构建出折线图、柱状图、散点图、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线图、饼图、雷达图、地图、和弦图、力导向布局图、仪表盘以及漏斗图，同时支持任意维度的堆积和多图表混合展现。支持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IE6/7/8/9+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chrome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firefox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safari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 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(IE8- power by </a:t>
            </a:r>
            <a:r>
              <a:rPr lang="en-US" altLang="zh-CN" sz="1200" b="0" i="1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excanvas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)——</a:t>
            </a:r>
            <a:r>
              <a:rPr lang="zh-CN" alt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开源来自百度商业前端数据可视化团队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ACD7A-6151-41D7-B165-B4DD5FFB85E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790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589" y="1935"/>
            <a:ext cx="12190408" cy="6857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rgbClr val="92D050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92D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397B-F195-431B-A77B-CBC18328D7B0}" type="datetimeFigureOut">
              <a:rPr lang="zh-CN" altLang="en-US" smtClean="0"/>
              <a:pPr/>
              <a:t>2015/9/2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E2FB-3EE6-4A4E-A817-6C756F0D9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59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129552" y="6356350"/>
            <a:ext cx="2451847" cy="365125"/>
          </a:xfrm>
        </p:spPr>
        <p:txBody>
          <a:bodyPr/>
          <a:lstStyle>
            <a:lvl1pPr algn="ctr">
              <a:defRPr/>
            </a:lvl1pPr>
          </a:lstStyle>
          <a:p>
            <a:fld id="{E464397B-F195-431B-A77B-CBC18328D7B0}" type="datetimeFigureOut">
              <a:rPr lang="zh-CN" altLang="en-US" smtClean="0"/>
              <a:pPr/>
              <a:t>2015/9/2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851212" cy="365125"/>
          </a:xfrm>
        </p:spPr>
        <p:txBody>
          <a:bodyPr/>
          <a:lstStyle>
            <a:lvl1pPr algn="ctr">
              <a:defRPr/>
            </a:lvl1pPr>
          </a:lstStyle>
          <a:p>
            <a:fld id="{2839E2FB-3EE6-4A4E-A817-6C756F0D9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90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8969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397B-F195-431B-A77B-CBC18328D7B0}" type="datetimeFigureOut">
              <a:rPr lang="zh-CN" altLang="en-US" smtClean="0"/>
              <a:pPr/>
              <a:t>2015/9/2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E2FB-3EE6-4A4E-A817-6C756F0D9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086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8086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8086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397B-F195-431B-A77B-CBC18328D7B0}" type="datetimeFigureOut">
              <a:rPr lang="zh-CN" altLang="en-US" smtClean="0"/>
              <a:pPr/>
              <a:t>2015/9/2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E2FB-3EE6-4A4E-A817-6C756F0D9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564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1561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1561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397B-F195-431B-A77B-CBC18328D7B0}" type="datetimeFigureOut">
              <a:rPr lang="zh-CN" altLang="en-US" smtClean="0"/>
              <a:pPr/>
              <a:t>2015/9/2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E2FB-3EE6-4A4E-A817-6C756F0D9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628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397B-F195-431B-A77B-CBC18328D7B0}" type="datetimeFigureOut">
              <a:rPr lang="zh-CN" altLang="en-US" smtClean="0"/>
              <a:pPr/>
              <a:t>2015/9/2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E2FB-3EE6-4A4E-A817-6C756F0D9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63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397B-F195-431B-A77B-CBC18328D7B0}" type="datetimeFigureOut">
              <a:rPr lang="zh-CN" altLang="en-US" smtClean="0"/>
              <a:pPr/>
              <a:t>2015/9/2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E2FB-3EE6-4A4E-A817-6C756F0D9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542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5391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55002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397B-F195-431B-A77B-CBC18328D7B0}" type="datetimeFigureOut">
              <a:rPr lang="zh-CN" altLang="en-US" smtClean="0"/>
              <a:pPr/>
              <a:t>2015/9/2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E2FB-3EE6-4A4E-A817-6C756F0D9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827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67378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6038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397B-F195-431B-A77B-CBC18328D7B0}" type="datetimeFigureOut">
              <a:rPr lang="zh-CN" altLang="en-US" smtClean="0"/>
              <a:pPr/>
              <a:t>2015/9/2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E2FB-3EE6-4A4E-A817-6C756F0D9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958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397B-F195-431B-A77B-CBC18328D7B0}" type="datetimeFigureOut">
              <a:rPr lang="zh-CN" altLang="en-US" smtClean="0"/>
              <a:pPr/>
              <a:t>2015/9/2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E2FB-3EE6-4A4E-A817-6C756F0D9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729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282640"/>
          </a:xfrm>
        </p:spPr>
        <p:txBody>
          <a:bodyPr vert="eaVer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282640"/>
          </a:xfrm>
        </p:spPr>
        <p:txBody>
          <a:bodyPr vert="eaVer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397B-F195-431B-A77B-CBC18328D7B0}" type="datetimeFigureOut">
              <a:rPr lang="zh-CN" altLang="en-US" smtClean="0"/>
              <a:pPr/>
              <a:t>2015/9/2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E2FB-3EE6-4A4E-A817-6C756F0D9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150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4397B-F195-431B-A77B-CBC18328D7B0}" type="datetimeFigureOut">
              <a:rPr lang="zh-CN" altLang="en-US" smtClean="0"/>
              <a:pPr/>
              <a:t>2015/9/2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9E2FB-3EE6-4A4E-A817-6C756F0D9D4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6" name="图片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2" y="0"/>
            <a:ext cx="12479996" cy="7019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5714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 bwMode="auto">
          <a:xfrm>
            <a:off x="-3174" y="1934"/>
            <a:ext cx="12188560" cy="6856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10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43000" y="6356350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464397B-F195-431B-A77B-CBC18328D7B0}" type="datetimeFigureOut">
              <a:rPr lang="zh-CN" altLang="en-US" smtClean="0"/>
              <a:pPr/>
              <a:t>2015/9/2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851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839E2FB-3EE6-4A4E-A817-6C756F0D9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244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92D05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50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50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comfe.github.io/zrender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60" y="2671211"/>
            <a:ext cx="7524584" cy="1628789"/>
          </a:xfrm>
        </p:spPr>
        <p:txBody>
          <a:bodyPr/>
          <a:lstStyle/>
          <a:p>
            <a:pPr algn="l"/>
            <a:r>
              <a:rPr lang="en-US" altLang="zh-CN" dirty="0" err="1" smtClean="0"/>
              <a:t>angularJs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14350" y="4355756"/>
            <a:ext cx="2981739" cy="69166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zh-CN" altLang="en-US" dirty="0" smtClean="0"/>
              <a:t>张志明</a:t>
            </a:r>
            <a:endParaRPr lang="en-US" altLang="zh-CN" dirty="0" smtClean="0"/>
          </a:p>
          <a:p>
            <a:pPr algn="l"/>
            <a:r>
              <a:rPr lang="en-US" altLang="zh-CN" dirty="0" smtClean="0"/>
              <a:t>0902</a:t>
            </a:r>
            <a:endParaRPr lang="zh-CN" altLang="en-US" dirty="0"/>
          </a:p>
          <a:p>
            <a:pPr algn="l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0845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UI</a:t>
            </a:r>
            <a:r>
              <a:rPr lang="zh-CN" altLang="en-US" dirty="0" smtClean="0"/>
              <a:t>第一阶段进展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600" dirty="0" smtClean="0"/>
              <a:t>1.</a:t>
            </a:r>
            <a:r>
              <a:rPr lang="zh-CN" altLang="en-US" sz="1600" dirty="0" smtClean="0"/>
              <a:t>支持提供</a:t>
            </a:r>
            <a:r>
              <a:rPr lang="en-US" altLang="zh-CN" sz="1600" dirty="0" err="1" smtClean="0"/>
              <a:t>WebTest</a:t>
            </a:r>
            <a:r>
              <a:rPr lang="zh-CN" altLang="en-US" sz="1600" dirty="0" smtClean="0"/>
              <a:t>监测平台静态页面</a:t>
            </a:r>
            <a:endParaRPr lang="en-US" altLang="zh-CN" sz="1600" dirty="0" smtClean="0"/>
          </a:p>
          <a:p>
            <a:r>
              <a:rPr lang="en-US" altLang="zh-CN" sz="1600" dirty="0" smtClean="0"/>
              <a:t>2.</a:t>
            </a:r>
            <a:r>
              <a:rPr lang="zh-CN" altLang="en-US" sz="1600" dirty="0" smtClean="0"/>
              <a:t>组内相关人员完成自己负责模块的技术调研</a:t>
            </a:r>
            <a:endParaRPr lang="en-US" altLang="zh-CN" sz="1600" dirty="0" smtClean="0"/>
          </a:p>
          <a:p>
            <a:r>
              <a:rPr lang="en-US" altLang="zh-CN" sz="1600" dirty="0" smtClean="0"/>
              <a:t>3.</a:t>
            </a:r>
            <a:r>
              <a:rPr lang="zh-CN" altLang="en-US" sz="1600" dirty="0" smtClean="0"/>
              <a:t>完成</a:t>
            </a:r>
            <a:r>
              <a:rPr lang="en-US" altLang="zh-CN" sz="1600" dirty="0" smtClean="0"/>
              <a:t>UI</a:t>
            </a:r>
            <a:r>
              <a:rPr lang="zh-CN" altLang="en-US" sz="1600" dirty="0" smtClean="0"/>
              <a:t>风格的初版</a:t>
            </a:r>
            <a:endParaRPr lang="en-US" altLang="zh-CN" sz="1600" dirty="0" smtClean="0"/>
          </a:p>
          <a:p>
            <a:r>
              <a:rPr lang="en-US" altLang="zh-CN" sz="1600" dirty="0" smtClean="0"/>
              <a:t>4.</a:t>
            </a:r>
            <a:r>
              <a:rPr lang="zh-CN" altLang="en-US" sz="1600" dirty="0" smtClean="0"/>
              <a:t>确定了下一阶段实现的功能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55274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838200" y="1825625"/>
            <a:ext cx="10653584" cy="401039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457200" lvl="1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6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AngularJS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是为了克服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HTML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在构建应用上的不足而设计的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HTML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是一门很好的为静态文本展示设计的声明式语言，但要构建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应用的话它就显得乏力了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lvl="1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lvl="1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通常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，我们是通过以下技术来解决静态网页技术在构建动态应用上的不足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：</a:t>
            </a:r>
            <a:endParaRPr lang="en-US" altLang="zh-CN" sz="16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lvl="1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zh-CN" altLang="en-US" sz="1600" dirty="0" smtClean="0">
                <a:solidFill>
                  <a:srgbClr val="00B0F0"/>
                </a:solidFill>
              </a:rPr>
              <a:t>类</a:t>
            </a:r>
            <a:r>
              <a:rPr lang="zh-CN" altLang="en-US" sz="1600" dirty="0">
                <a:solidFill>
                  <a:srgbClr val="00B0F0"/>
                </a:solidFill>
              </a:rPr>
              <a:t>库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类库是一些函数的集合，它能帮助你写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应用。起主导作用的是你的代码，由你来决定何时使用类库。类库有：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jQuery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等</a:t>
            </a:r>
          </a:p>
          <a:p>
            <a:pPr marL="0" indent="0"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zh-CN" altLang="en-US" sz="1600" dirty="0" smtClean="0">
                <a:solidFill>
                  <a:srgbClr val="00B0F0"/>
                </a:solidFill>
              </a:rPr>
              <a:t>框架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框架是一种特殊的、已经实现了的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应用，你只需要对它填充具体的业务逻辑。这里框架是起主导作用的，由它来根据具体的应用逻辑来调用你的代码。框架有：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knockout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、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sproutcore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等。</a:t>
            </a:r>
          </a:p>
          <a:p>
            <a:pPr marL="457200" lvl="1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endParaRPr lang="en-US" altLang="zh-CN" sz="1400" dirty="0">
              <a:solidFill>
                <a:srgbClr val="7F7F7F"/>
              </a:solidFill>
            </a:endParaRPr>
          </a:p>
          <a:p>
            <a:pPr lvl="1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000" dirty="0">
              <a:solidFill>
                <a:srgbClr val="7F7F7F"/>
              </a:solidFill>
            </a:endParaRPr>
          </a:p>
          <a:p>
            <a:pPr marL="914400" lvl="2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endParaRPr lang="en-US" altLang="zh-CN" sz="1000" dirty="0" smtClean="0">
              <a:solidFill>
                <a:srgbClr val="00B050"/>
              </a:solidFill>
            </a:endParaRPr>
          </a:p>
          <a:p>
            <a:pPr lvl="1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400" dirty="0" smtClean="0">
              <a:solidFill>
                <a:srgbClr val="00B050"/>
              </a:solidFill>
            </a:endParaRPr>
          </a:p>
          <a:p>
            <a:pPr lvl="1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400" dirty="0">
              <a:solidFill>
                <a:srgbClr val="7F7F7F"/>
              </a:solidFill>
            </a:endParaRPr>
          </a:p>
          <a:p>
            <a:pPr lvl="1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0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914400" lvl="2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endParaRPr lang="en-US" altLang="zh-CN" sz="1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2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  <a:p>
            <a:endParaRPr lang="en-US" altLang="zh-CN" sz="1500" dirty="0" smtClean="0">
              <a:solidFill>
                <a:srgbClr val="FF0000"/>
              </a:solidFill>
              <a:sym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sz="1100" dirty="0">
              <a:solidFill>
                <a:srgbClr val="808080"/>
              </a:solidFill>
              <a:sym typeface="微软雅黑" panose="020B0503020204020204" pitchFamily="34" charset="-122"/>
            </a:endParaRPr>
          </a:p>
          <a:p>
            <a:pPr lvl="0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523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适用场景</a:t>
            </a:r>
            <a:endParaRPr lang="zh-CN" altLang="en-US" dirty="0"/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1156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lvl="0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</a:t>
            </a:r>
            <a:r>
              <a:rPr lang="en-US" altLang="zh-CN" sz="1600" dirty="0" err="1" smtClean="0"/>
              <a:t>AngularJS</a:t>
            </a:r>
            <a:r>
              <a:rPr lang="zh-CN" altLang="en-US" sz="1600" dirty="0"/>
              <a:t>通过为开发者呈现一个更高层次的抽象来简化应用的开发。如同其他的抽象技术一样，这也会损失一部分灵活性。换句话说，并不是所有的应用都适合用</a:t>
            </a:r>
            <a:r>
              <a:rPr lang="en-US" altLang="zh-CN" sz="1600" dirty="0" err="1"/>
              <a:t>AngularJS</a:t>
            </a:r>
            <a:r>
              <a:rPr lang="zh-CN" altLang="en-US" sz="1600" dirty="0"/>
              <a:t>来做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       </a:t>
            </a:r>
            <a:r>
              <a:rPr lang="en-US" altLang="zh-CN" sz="1600" dirty="0" err="1" smtClean="0"/>
              <a:t>AngularJS</a:t>
            </a:r>
            <a:r>
              <a:rPr lang="zh-CN" altLang="en-US" sz="1600" dirty="0"/>
              <a:t>主要考虑的是构建</a:t>
            </a:r>
            <a:r>
              <a:rPr lang="en-US" altLang="zh-CN" sz="1600" dirty="0"/>
              <a:t>CRUD</a:t>
            </a:r>
            <a:r>
              <a:rPr lang="zh-CN" altLang="en-US" sz="1600" dirty="0"/>
              <a:t>应用。幸运的是，至少</a:t>
            </a:r>
            <a:r>
              <a:rPr lang="en-US" altLang="zh-CN" sz="1600" dirty="0"/>
              <a:t>90%</a:t>
            </a:r>
            <a:r>
              <a:rPr lang="zh-CN" altLang="en-US" sz="1600" dirty="0"/>
              <a:t>的</a:t>
            </a:r>
            <a:r>
              <a:rPr lang="en-US" altLang="zh-CN" sz="1600" dirty="0"/>
              <a:t>WEB</a:t>
            </a:r>
            <a:r>
              <a:rPr lang="zh-CN" altLang="en-US" sz="1600" dirty="0"/>
              <a:t>应用都是</a:t>
            </a:r>
            <a:r>
              <a:rPr lang="en-US" altLang="zh-CN" sz="1600" dirty="0"/>
              <a:t>CRUD</a:t>
            </a:r>
            <a:r>
              <a:rPr lang="zh-CN" altLang="en-US" sz="1600" dirty="0"/>
              <a:t>应用。但是要了解什么适合用</a:t>
            </a:r>
            <a:r>
              <a:rPr lang="en-US" altLang="zh-CN" sz="1600" dirty="0" err="1"/>
              <a:t>AngularJS</a:t>
            </a:r>
            <a:r>
              <a:rPr lang="zh-CN" altLang="en-US" sz="1600" dirty="0"/>
              <a:t>构建，就得了解什么不适合用</a:t>
            </a:r>
            <a:r>
              <a:rPr lang="en-US" altLang="zh-CN" sz="1600" dirty="0" err="1"/>
              <a:t>AngularJS</a:t>
            </a:r>
            <a:r>
              <a:rPr lang="zh-CN" altLang="en-US" sz="1600" dirty="0"/>
              <a:t>构建。</a:t>
            </a:r>
          </a:p>
          <a:p>
            <a:pPr marL="0" indent="0">
              <a:buNone/>
            </a:pPr>
            <a:r>
              <a:rPr lang="zh-CN" altLang="en-US" sz="1600" dirty="0"/>
              <a:t> 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     </a:t>
            </a:r>
            <a:r>
              <a:rPr lang="zh-CN" altLang="en-US" sz="1600" dirty="0" smtClean="0"/>
              <a:t>如</a:t>
            </a:r>
            <a:r>
              <a:rPr lang="zh-CN" altLang="en-US" sz="1600" dirty="0"/>
              <a:t>游戏，图形界面编辑器，这种</a:t>
            </a:r>
            <a:r>
              <a:rPr lang="en-US" altLang="zh-CN" sz="1600" dirty="0"/>
              <a:t>DOM</a:t>
            </a:r>
            <a:r>
              <a:rPr lang="zh-CN" altLang="en-US" sz="1600" dirty="0"/>
              <a:t>操作很频繁也很复杂的应用，和</a:t>
            </a:r>
            <a:r>
              <a:rPr lang="en-US" altLang="zh-CN" sz="1600" dirty="0"/>
              <a:t>CRUD</a:t>
            </a:r>
            <a:r>
              <a:rPr lang="zh-CN" altLang="en-US" sz="1600" dirty="0"/>
              <a:t>应用就有很大的不同，它们不适合用</a:t>
            </a:r>
            <a:r>
              <a:rPr lang="en-US" altLang="zh-CN" sz="1600" dirty="0" err="1"/>
              <a:t>AngularJS</a:t>
            </a:r>
            <a:r>
              <a:rPr lang="zh-CN" altLang="en-US" sz="1600" dirty="0"/>
              <a:t>来构建。像这种情况用一些更轻量、简单的技术如</a:t>
            </a:r>
            <a:r>
              <a:rPr lang="en-US" altLang="zh-CN" sz="1600" dirty="0"/>
              <a:t>jQuery</a:t>
            </a:r>
            <a:r>
              <a:rPr lang="zh-CN" altLang="en-US" sz="1600" dirty="0"/>
              <a:t>可能会更好。</a:t>
            </a:r>
          </a:p>
          <a:p>
            <a:pPr marL="914400" lvl="2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endParaRPr lang="en-US" altLang="zh-CN" sz="11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914400" lvl="2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914400" lvl="2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914400" lvl="2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6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573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838200" y="1804307"/>
            <a:ext cx="10515600" cy="4261756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600" dirty="0" err="1" smtClean="0">
                <a:solidFill>
                  <a:srgbClr val="00B0F0"/>
                </a:solidFill>
              </a:rPr>
              <a:t>Jquery</a:t>
            </a:r>
            <a:r>
              <a:rPr lang="zh-CN" altLang="en-US" sz="1600" dirty="0" smtClean="0">
                <a:solidFill>
                  <a:srgbClr val="00B0F0"/>
                </a:solidFill>
              </a:rPr>
              <a:t>是库，</a:t>
            </a:r>
            <a:r>
              <a:rPr lang="en-US" altLang="zh-CN" sz="1600" dirty="0" err="1" smtClean="0">
                <a:solidFill>
                  <a:srgbClr val="00B0F0"/>
                </a:solidFill>
              </a:rPr>
              <a:t>angularJs</a:t>
            </a:r>
            <a:r>
              <a:rPr lang="zh-CN" altLang="en-US" sz="1600" dirty="0" smtClean="0">
                <a:solidFill>
                  <a:srgbClr val="00B0F0"/>
                </a:solidFill>
              </a:rPr>
              <a:t>是框架</a:t>
            </a:r>
            <a:endParaRPr lang="en-US" altLang="zh-CN" sz="1600" dirty="0">
              <a:solidFill>
                <a:srgbClr val="00B0F0"/>
              </a:solidFill>
            </a:endParaRPr>
          </a:p>
          <a:p>
            <a:pPr marL="0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600" dirty="0" smtClean="0">
                <a:solidFill>
                  <a:srgbClr val="7F7F7F"/>
                </a:solidFill>
              </a:rPr>
              <a:t>1.Jquery</a:t>
            </a:r>
            <a:r>
              <a:rPr lang="zh-CN" altLang="en-US" sz="1600" dirty="0" smtClean="0">
                <a:solidFill>
                  <a:srgbClr val="7F7F7F"/>
                </a:solidFill>
              </a:rPr>
              <a:t>是为</a:t>
            </a:r>
            <a:r>
              <a:rPr lang="en-US" altLang="zh-CN" sz="1600" dirty="0" err="1" smtClean="0">
                <a:solidFill>
                  <a:srgbClr val="7F7F7F"/>
                </a:solidFill>
              </a:rPr>
              <a:t>dom</a:t>
            </a:r>
            <a:r>
              <a:rPr lang="zh-CN" altLang="en-US" sz="1600" dirty="0" smtClean="0">
                <a:solidFill>
                  <a:srgbClr val="7F7F7F"/>
                </a:solidFill>
              </a:rPr>
              <a:t>而生的</a:t>
            </a:r>
            <a:r>
              <a:rPr lang="zh-CN" altLang="en-US" sz="1600" dirty="0">
                <a:solidFill>
                  <a:srgbClr val="7F7F7F"/>
                </a:solidFill>
              </a:rPr>
              <a:t>，</a:t>
            </a:r>
            <a:r>
              <a:rPr lang="en-US" altLang="zh-CN" sz="1600" dirty="0" smtClean="0">
                <a:solidFill>
                  <a:srgbClr val="7F7F7F"/>
                </a:solidFill>
              </a:rPr>
              <a:t>angular</a:t>
            </a:r>
            <a:r>
              <a:rPr lang="zh-CN" altLang="en-US" sz="1600" dirty="0" smtClean="0">
                <a:solidFill>
                  <a:srgbClr val="7F7F7F"/>
                </a:solidFill>
              </a:rPr>
              <a:t>更关注的数据本身，当然操作</a:t>
            </a:r>
            <a:r>
              <a:rPr lang="en-US" altLang="zh-CN" sz="1600" dirty="0" err="1" smtClean="0">
                <a:solidFill>
                  <a:srgbClr val="7F7F7F"/>
                </a:solidFill>
              </a:rPr>
              <a:t>dom</a:t>
            </a:r>
            <a:r>
              <a:rPr lang="zh-CN" altLang="en-US" sz="1600" dirty="0" smtClean="0">
                <a:solidFill>
                  <a:srgbClr val="7F7F7F"/>
                </a:solidFill>
              </a:rPr>
              <a:t>必不可少，只是更少</a:t>
            </a:r>
            <a:endParaRPr lang="en-US" altLang="zh-CN" sz="1600" dirty="0" smtClean="0">
              <a:solidFill>
                <a:srgbClr val="7F7F7F"/>
              </a:solidFill>
            </a:endParaRPr>
          </a:p>
          <a:p>
            <a:pPr marL="0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600" dirty="0" smtClean="0">
                <a:solidFill>
                  <a:srgbClr val="7F7F7F"/>
                </a:solidFill>
              </a:rPr>
              <a:t>2.</a:t>
            </a:r>
            <a:r>
              <a:rPr lang="zh-CN" altLang="en-US" sz="1600" dirty="0">
                <a:solidFill>
                  <a:srgbClr val="7F7F7F"/>
                </a:solidFill>
              </a:rPr>
              <a:t> </a:t>
            </a:r>
            <a:r>
              <a:rPr lang="en-US" altLang="zh-CN" sz="1600" dirty="0" err="1" smtClean="0">
                <a:solidFill>
                  <a:srgbClr val="7F7F7F"/>
                </a:solidFill>
              </a:rPr>
              <a:t>angularJS</a:t>
            </a:r>
            <a:r>
              <a:rPr lang="zh-CN" altLang="en-US" sz="1600" dirty="0" smtClean="0">
                <a:solidFill>
                  <a:srgbClr val="7F7F7F"/>
                </a:solidFill>
              </a:rPr>
              <a:t>尽管</a:t>
            </a:r>
            <a:r>
              <a:rPr lang="zh-CN" altLang="en-US" sz="1600" dirty="0">
                <a:solidFill>
                  <a:srgbClr val="7F7F7F"/>
                </a:solidFill>
              </a:rPr>
              <a:t>它的学习曲线没有那么平缓，但它强调开发效率</a:t>
            </a:r>
            <a:r>
              <a:rPr lang="zh-CN" altLang="en-US" sz="1600" dirty="0" smtClean="0">
                <a:solidFill>
                  <a:srgbClr val="7F7F7F"/>
                </a:solidFill>
              </a:rPr>
              <a:t>，</a:t>
            </a:r>
            <a:r>
              <a:rPr lang="en-US" altLang="zh-CN" sz="1600" dirty="0" err="1" smtClean="0">
                <a:solidFill>
                  <a:srgbClr val="7F7F7F"/>
                </a:solidFill>
              </a:rPr>
              <a:t>angularJS</a:t>
            </a:r>
            <a:r>
              <a:rPr lang="zh-CN" altLang="en-US" sz="1600" dirty="0">
                <a:solidFill>
                  <a:srgbClr val="7F7F7F"/>
                </a:solidFill>
              </a:rPr>
              <a:t>中很多特点的设计都是出于提高开发者效率的</a:t>
            </a:r>
            <a:r>
              <a:rPr lang="zh-CN" altLang="en-US" sz="1600" dirty="0" smtClean="0">
                <a:solidFill>
                  <a:srgbClr val="7F7F7F"/>
                </a:solidFill>
              </a:rPr>
              <a:t>目的，比如但愿测试。</a:t>
            </a:r>
            <a:endParaRPr lang="en-US" altLang="zh-CN" sz="1600" dirty="0" smtClean="0">
              <a:solidFill>
                <a:srgbClr val="7F7F7F"/>
              </a:solidFill>
            </a:endParaRPr>
          </a:p>
          <a:p>
            <a:pPr marL="0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600" dirty="0" smtClean="0">
                <a:solidFill>
                  <a:srgbClr val="7F7F7F"/>
                </a:solidFill>
              </a:rPr>
              <a:t>3.</a:t>
            </a:r>
            <a:r>
              <a:rPr lang="zh-CN" altLang="en-US" sz="1600" dirty="0"/>
              <a:t>  </a:t>
            </a:r>
            <a:r>
              <a:rPr lang="en-US" altLang="zh-CN" sz="1600" dirty="0" smtClean="0">
                <a:solidFill>
                  <a:srgbClr val="7F7F7F"/>
                </a:solidFill>
              </a:rPr>
              <a:t>jQuery</a:t>
            </a:r>
            <a:r>
              <a:rPr lang="zh-CN" altLang="en-US" sz="1600" dirty="0" smtClean="0">
                <a:solidFill>
                  <a:srgbClr val="7F7F7F"/>
                </a:solidFill>
              </a:rPr>
              <a:t>是命令式编程，</a:t>
            </a:r>
            <a:r>
              <a:rPr lang="en-US" altLang="zh-CN" sz="1600" dirty="0" err="1" smtClean="0">
                <a:solidFill>
                  <a:srgbClr val="7F7F7F"/>
                </a:solidFill>
              </a:rPr>
              <a:t>angularJS</a:t>
            </a:r>
            <a:r>
              <a:rPr lang="zh-CN" altLang="en-US" sz="1600" dirty="0">
                <a:solidFill>
                  <a:srgbClr val="7F7F7F"/>
                </a:solidFill>
              </a:rPr>
              <a:t>就是声明式的，只需要告诉计算机你需要的展现形式，至于细节就由机器处理了。</a:t>
            </a:r>
            <a:r>
              <a:rPr lang="zh-CN" altLang="en-US" sz="1600" dirty="0" smtClean="0">
                <a:solidFill>
                  <a:srgbClr val="7F7F7F"/>
                </a:solidFill>
              </a:rPr>
              <a:t>这样完成</a:t>
            </a:r>
            <a:r>
              <a:rPr lang="zh-CN" altLang="en-US" sz="1600" dirty="0">
                <a:solidFill>
                  <a:srgbClr val="7F7F7F"/>
                </a:solidFill>
              </a:rPr>
              <a:t>一个任务的代码就大幅缩减了，代码质量也更高了。</a:t>
            </a:r>
            <a:endParaRPr lang="en-US" altLang="zh-CN" sz="1600" dirty="0" smtClean="0">
              <a:solidFill>
                <a:srgbClr val="7F7F7F"/>
              </a:solidFill>
            </a:endParaRPr>
          </a:p>
        </p:txBody>
      </p:sp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 smtClean="0"/>
              <a:t>Angular VS jQuery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3340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特点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600" dirty="0" smtClean="0"/>
              <a:t>1.</a:t>
            </a:r>
            <a:r>
              <a:rPr lang="zh-CN" altLang="en-US" sz="1600" dirty="0" smtClean="0"/>
              <a:t>不必关心</a:t>
            </a:r>
            <a:r>
              <a:rPr lang="en-US" altLang="zh-CN" sz="1600" dirty="0" err="1" smtClean="0"/>
              <a:t>dom</a:t>
            </a:r>
            <a:endParaRPr lang="en-US" altLang="zh-CN" sz="1600" dirty="0" smtClean="0"/>
          </a:p>
          <a:p>
            <a:r>
              <a:rPr lang="en-US" altLang="zh-CN" sz="1600" dirty="0" smtClean="0"/>
              <a:t>2.</a:t>
            </a:r>
            <a:r>
              <a:rPr lang="zh-CN" altLang="en-US" sz="1600" dirty="0" smtClean="0"/>
              <a:t>数据的双向绑定</a:t>
            </a:r>
            <a:endParaRPr lang="en-US" altLang="zh-CN" sz="1600" dirty="0" smtClean="0"/>
          </a:p>
          <a:p>
            <a:r>
              <a:rPr lang="en-US" altLang="zh-CN" sz="1600" dirty="0" smtClean="0"/>
              <a:t>3.</a:t>
            </a:r>
            <a:r>
              <a:rPr lang="zh-CN" altLang="en-US" sz="1600" dirty="0" smtClean="0"/>
              <a:t>自定义指令</a:t>
            </a:r>
            <a:endParaRPr lang="en-US" altLang="zh-CN" sz="1600" dirty="0" smtClean="0"/>
          </a:p>
          <a:p>
            <a:r>
              <a:rPr lang="en-US" altLang="zh-CN" sz="1600" dirty="0" smtClean="0"/>
              <a:t>4.</a:t>
            </a:r>
            <a:r>
              <a:rPr lang="zh-CN" altLang="en-US" sz="1600" dirty="0" smtClean="0"/>
              <a:t>通过指令去操作</a:t>
            </a:r>
            <a:r>
              <a:rPr lang="en-US" altLang="zh-CN" sz="1600" dirty="0" err="1" smtClean="0"/>
              <a:t>dom</a:t>
            </a:r>
            <a:r>
              <a:rPr lang="zh-CN" altLang="en-US" sz="1600" dirty="0" smtClean="0"/>
              <a:t>，当然尽量</a:t>
            </a:r>
            <a:r>
              <a:rPr lang="zh-CN" altLang="en-US" sz="1600" dirty="0" smtClean="0">
                <a:solidFill>
                  <a:srgbClr val="00B0F0"/>
                </a:solidFill>
              </a:rPr>
              <a:t>少操作</a:t>
            </a:r>
            <a:r>
              <a:rPr lang="en-US" altLang="zh-CN" sz="1600" dirty="0" err="1" smtClean="0">
                <a:solidFill>
                  <a:srgbClr val="00B0F0"/>
                </a:solidFill>
              </a:rPr>
              <a:t>dom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670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19749"/>
          </a:xfrm>
        </p:spPr>
        <p:txBody>
          <a:bodyPr>
            <a:normAutofit/>
          </a:bodyPr>
          <a:lstStyle/>
          <a:p>
            <a:r>
              <a:rPr lang="zh-CN" altLang="en-US" dirty="0"/>
              <a:t>简介</a:t>
            </a:r>
            <a:r>
              <a:rPr lang="zh-CN" altLang="en-US" b="0" dirty="0"/>
              <a:t/>
            </a:r>
            <a:br>
              <a:rPr lang="zh-CN" altLang="en-US" b="0" dirty="0"/>
            </a:br>
            <a:r>
              <a:rPr lang="en-US" altLang="zh-CN" sz="3200" b="0" dirty="0" err="1"/>
              <a:t>ECharts</a:t>
            </a:r>
            <a:r>
              <a:rPr lang="zh-CN" altLang="en-US" sz="3200" b="0" dirty="0"/>
              <a:t>，缩写来自</a:t>
            </a:r>
            <a:r>
              <a:rPr lang="en-US" altLang="zh-CN" sz="3200" b="0" dirty="0"/>
              <a:t>Enterprise Charts</a:t>
            </a:r>
            <a:r>
              <a:rPr lang="zh-CN" altLang="en-US" sz="3200" b="0" dirty="0"/>
              <a:t>，商业级数据图表，一个纯</a:t>
            </a:r>
            <a:r>
              <a:rPr lang="en-US" altLang="zh-CN" sz="3200" b="0" dirty="0" err="1"/>
              <a:t>Javascript</a:t>
            </a:r>
            <a:r>
              <a:rPr lang="zh-CN" altLang="en-US" sz="3200" b="0" dirty="0"/>
              <a:t>的图表库，可以流畅的运行在</a:t>
            </a:r>
            <a:r>
              <a:rPr lang="en-US" altLang="zh-CN" sz="3200" b="0" dirty="0"/>
              <a:t>PC</a:t>
            </a:r>
            <a:r>
              <a:rPr lang="zh-CN" altLang="en-US" sz="3200" b="0" dirty="0"/>
              <a:t>和移动设备上，兼容当前绝大部分浏览器（</a:t>
            </a:r>
            <a:r>
              <a:rPr lang="en-US" altLang="zh-CN" sz="3200" b="0" dirty="0"/>
              <a:t>IE6/7/8/9/10/11</a:t>
            </a:r>
            <a:r>
              <a:rPr lang="zh-CN" altLang="en-US" sz="3200" b="0" dirty="0"/>
              <a:t>，</a:t>
            </a:r>
            <a:r>
              <a:rPr lang="en-US" altLang="zh-CN" sz="3200" b="0" dirty="0"/>
              <a:t>chrome</a:t>
            </a:r>
            <a:r>
              <a:rPr lang="zh-CN" altLang="en-US" sz="3200" b="0" dirty="0"/>
              <a:t>，</a:t>
            </a:r>
            <a:r>
              <a:rPr lang="en-US" altLang="zh-CN" sz="3200" b="0" dirty="0" err="1"/>
              <a:t>firefox</a:t>
            </a:r>
            <a:r>
              <a:rPr lang="zh-CN" altLang="en-US" sz="3200" b="0" dirty="0"/>
              <a:t>，</a:t>
            </a:r>
            <a:r>
              <a:rPr lang="en-US" altLang="zh-CN" sz="3200" b="0" dirty="0"/>
              <a:t>Safari</a:t>
            </a:r>
            <a:r>
              <a:rPr lang="zh-CN" altLang="en-US" sz="3200" b="0" dirty="0"/>
              <a:t>等），底层依赖轻量级的</a:t>
            </a:r>
            <a:r>
              <a:rPr lang="en-US" altLang="zh-CN" sz="3200" b="0" dirty="0"/>
              <a:t>Canvas</a:t>
            </a:r>
            <a:r>
              <a:rPr lang="zh-CN" altLang="en-US" sz="3200" b="0" dirty="0"/>
              <a:t>类库</a:t>
            </a:r>
            <a:r>
              <a:rPr lang="en-US" altLang="zh-CN" sz="3200" b="0" dirty="0" err="1">
                <a:hlinkClick r:id="rId3"/>
              </a:rPr>
              <a:t>ZRender</a:t>
            </a:r>
            <a:r>
              <a:rPr lang="zh-CN" altLang="en-US" sz="3200" b="0" dirty="0"/>
              <a:t>，提供直观，生动，可交互，可高度个性化定制的数据可视化图表。创新的拖拽重计算、数据视图、值域漫游等特性大大增强了用户体验，赋予了用户对数据进行挖掘、整合的能力。</a:t>
            </a:r>
          </a:p>
        </p:txBody>
      </p:sp>
    </p:spTree>
    <p:extLst>
      <p:ext uri="{BB962C8B-B14F-4D97-AF65-F5344CB8AC3E}">
        <p14:creationId xmlns:p14="http://schemas.microsoft.com/office/powerpoint/2010/main" val="3587286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53" y="925756"/>
            <a:ext cx="8937381" cy="478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13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6965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特性（</a:t>
            </a:r>
            <a:r>
              <a:rPr lang="en-US" altLang="zh-CN" sz="2000" dirty="0"/>
              <a:t>http://echarts.baidu.com/doc/feature.html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686386" y="916965"/>
            <a:ext cx="10819228" cy="5545846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混搭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拖拽重计算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数据视图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动态类型切换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图例开关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数据区域选择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多图联动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值域漫游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炫光特效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大规模数据模式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动态数据添加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标线辅助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子区域地图模式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en-US" altLang="zh-CN" sz="4000" b="1" dirty="0" err="1">
                <a:solidFill>
                  <a:srgbClr val="92D050"/>
                </a:solidFill>
                <a:cs typeface="+mj-cs"/>
              </a:rPr>
              <a:t>GeoJson</a:t>
            </a: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地图扩展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标注</a:t>
            </a:r>
            <a:r>
              <a:rPr lang="en-US" altLang="zh-CN" sz="4000" b="1" dirty="0">
                <a:solidFill>
                  <a:srgbClr val="92D050"/>
                </a:solidFill>
                <a:cs typeface="+mj-cs"/>
              </a:rPr>
              <a:t>&amp;</a:t>
            </a: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标线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个性化定制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事件交互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buFont typeface="Wingdings" panose="05000000000000000000" pitchFamily="2" charset="2"/>
              <a:buChar char="p"/>
              <a:defRPr sz="1800">
                <a:solidFill>
                  <a:srgbClr val="000000"/>
                </a:solidFill>
              </a:defRPr>
            </a:pPr>
            <a:r>
              <a:rPr lang="zh-CN" altLang="en-US" sz="4000" b="1" dirty="0">
                <a:solidFill>
                  <a:srgbClr val="92D050"/>
                </a:solidFill>
                <a:cs typeface="+mj-cs"/>
              </a:rPr>
              <a:t>百搭时间轴</a:t>
            </a:r>
            <a:endParaRPr lang="en-US" altLang="zh-CN" sz="4000" b="1" dirty="0">
              <a:solidFill>
                <a:srgbClr val="92D050"/>
              </a:solidFill>
              <a:cs typeface="+mj-cs"/>
            </a:endParaRPr>
          </a:p>
          <a:p>
            <a:pPr lvl="2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2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  <a:p>
            <a:endParaRPr lang="en-US" altLang="zh-CN" sz="1500" dirty="0" smtClean="0">
              <a:solidFill>
                <a:srgbClr val="FF0000"/>
              </a:solidFill>
              <a:sym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sz="1100" dirty="0">
              <a:solidFill>
                <a:srgbClr val="808080"/>
              </a:solidFill>
              <a:sym typeface="微软雅黑" panose="020B0503020204020204" pitchFamily="34" charset="-122"/>
            </a:endParaRPr>
          </a:p>
          <a:p>
            <a:pPr lvl="0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071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41" y="323557"/>
            <a:ext cx="9256541" cy="547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84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引入</a:t>
            </a:r>
            <a:r>
              <a:rPr lang="en-US" altLang="zh-CN" dirty="0" err="1" smtClean="0"/>
              <a:t>ECharts</a:t>
            </a:r>
            <a:endParaRPr lang="zh-CN" altLang="en-US" dirty="0"/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838200" y="1586475"/>
            <a:ext cx="10515600" cy="401039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92D050"/>
                </a:solidFill>
                <a:cs typeface="+mj-cs"/>
              </a:rPr>
              <a:t>模块化单文件引入</a:t>
            </a:r>
            <a:r>
              <a:rPr lang="en-US" altLang="zh-CN" sz="2600" b="1" dirty="0" err="1">
                <a:solidFill>
                  <a:srgbClr val="92D050"/>
                </a:solidFill>
                <a:cs typeface="+mj-cs"/>
              </a:rPr>
              <a:t>ECharts</a:t>
            </a:r>
            <a:r>
              <a:rPr lang="zh-CN" altLang="en-US" sz="2600" b="1" dirty="0">
                <a:solidFill>
                  <a:srgbClr val="92D050"/>
                </a:solidFill>
                <a:cs typeface="+mj-cs"/>
              </a:rPr>
              <a:t>，需要如下</a:t>
            </a:r>
            <a:r>
              <a:rPr lang="en-US" altLang="zh-CN" sz="2600" b="1" dirty="0">
                <a:solidFill>
                  <a:srgbClr val="92D050"/>
                </a:solidFill>
                <a:cs typeface="+mj-cs"/>
              </a:rPr>
              <a:t>4</a:t>
            </a:r>
            <a:r>
              <a:rPr lang="zh-CN" altLang="en-US" sz="2600" b="1" dirty="0">
                <a:solidFill>
                  <a:srgbClr val="92D050"/>
                </a:solidFill>
                <a:cs typeface="+mj-cs"/>
              </a:rPr>
              <a:t>步：</a:t>
            </a: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92D050"/>
                </a:solidFill>
                <a:cs typeface="+mj-cs"/>
              </a:rPr>
              <a:t>为</a:t>
            </a:r>
            <a:r>
              <a:rPr lang="en-US" altLang="zh-CN" sz="2600" b="1" dirty="0" err="1">
                <a:solidFill>
                  <a:srgbClr val="92D050"/>
                </a:solidFill>
                <a:cs typeface="+mj-cs"/>
              </a:rPr>
              <a:t>ECharts</a:t>
            </a:r>
            <a:r>
              <a:rPr lang="zh-CN" altLang="en-US" sz="2600" b="1" dirty="0">
                <a:solidFill>
                  <a:srgbClr val="92D050"/>
                </a:solidFill>
                <a:cs typeface="+mj-cs"/>
              </a:rPr>
              <a:t>准备一个具备大小（宽高）的</a:t>
            </a:r>
            <a:r>
              <a:rPr lang="en-US" altLang="zh-CN" sz="2600" b="1" dirty="0">
                <a:solidFill>
                  <a:srgbClr val="92D050"/>
                </a:solidFill>
                <a:cs typeface="+mj-cs"/>
              </a:rPr>
              <a:t>Dom</a:t>
            </a:r>
            <a:r>
              <a:rPr lang="zh-CN" altLang="en-US" sz="2600" b="1" dirty="0">
                <a:solidFill>
                  <a:srgbClr val="92D050"/>
                </a:solidFill>
                <a:cs typeface="+mj-cs"/>
              </a:rPr>
              <a:t>（当然可以是动态生成的）</a:t>
            </a: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92D050"/>
                </a:solidFill>
                <a:cs typeface="+mj-cs"/>
              </a:rPr>
              <a:t>通过</a:t>
            </a:r>
            <a:r>
              <a:rPr lang="en-US" altLang="zh-CN" sz="2600" b="1" dirty="0">
                <a:solidFill>
                  <a:srgbClr val="92D050"/>
                </a:solidFill>
                <a:cs typeface="+mj-cs"/>
              </a:rPr>
              <a:t>script</a:t>
            </a:r>
            <a:r>
              <a:rPr lang="zh-CN" altLang="en-US" sz="2600" b="1" dirty="0">
                <a:solidFill>
                  <a:srgbClr val="92D050"/>
                </a:solidFill>
                <a:cs typeface="+mj-cs"/>
              </a:rPr>
              <a:t>标签引入</a:t>
            </a:r>
            <a:r>
              <a:rPr lang="en-US" altLang="zh-CN" sz="2600" b="1" dirty="0" err="1">
                <a:solidFill>
                  <a:srgbClr val="92D050"/>
                </a:solidFill>
                <a:cs typeface="+mj-cs"/>
              </a:rPr>
              <a:t>echarts</a:t>
            </a:r>
            <a:r>
              <a:rPr lang="zh-CN" altLang="en-US" sz="2600" b="1" dirty="0">
                <a:solidFill>
                  <a:srgbClr val="92D050"/>
                </a:solidFill>
                <a:cs typeface="+mj-cs"/>
              </a:rPr>
              <a:t>主文件</a:t>
            </a: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92D050"/>
                </a:solidFill>
                <a:cs typeface="+mj-cs"/>
              </a:rPr>
              <a:t>为模块加载器配置</a:t>
            </a:r>
            <a:r>
              <a:rPr lang="en-US" altLang="zh-CN" sz="2600" b="1" dirty="0" err="1">
                <a:solidFill>
                  <a:srgbClr val="92D050"/>
                </a:solidFill>
                <a:cs typeface="+mj-cs"/>
              </a:rPr>
              <a:t>echarts</a:t>
            </a:r>
            <a:r>
              <a:rPr lang="zh-CN" altLang="en-US" sz="2600" b="1" dirty="0">
                <a:solidFill>
                  <a:srgbClr val="92D050"/>
                </a:solidFill>
                <a:cs typeface="+mj-cs"/>
              </a:rPr>
              <a:t>的路径，从当前页面链接到</a:t>
            </a:r>
            <a:r>
              <a:rPr lang="en-US" altLang="zh-CN" sz="2600" b="1" dirty="0">
                <a:solidFill>
                  <a:srgbClr val="92D050"/>
                </a:solidFill>
                <a:cs typeface="+mj-cs"/>
              </a:rPr>
              <a:t>echarts.js</a:t>
            </a:r>
            <a:r>
              <a:rPr lang="zh-CN" altLang="en-US" sz="2600" b="1" dirty="0">
                <a:solidFill>
                  <a:srgbClr val="92D050"/>
                </a:solidFill>
                <a:cs typeface="+mj-cs"/>
              </a:rPr>
              <a:t>所在目录动态加载</a:t>
            </a:r>
            <a:r>
              <a:rPr lang="en-US" altLang="zh-CN" sz="2600" b="1" dirty="0" err="1">
                <a:solidFill>
                  <a:srgbClr val="92D050"/>
                </a:solidFill>
                <a:cs typeface="+mj-cs"/>
              </a:rPr>
              <a:t>echarts</a:t>
            </a:r>
            <a:r>
              <a:rPr lang="zh-CN" altLang="en-US" sz="2600" b="1" dirty="0">
                <a:solidFill>
                  <a:srgbClr val="92D050"/>
                </a:solidFill>
                <a:cs typeface="+mj-cs"/>
              </a:rPr>
              <a:t>及所需图表然后在回调函数中开始使用</a:t>
            </a:r>
            <a:endParaRPr lang="en-US" altLang="zh-CN" sz="2600" b="1" dirty="0">
              <a:solidFill>
                <a:srgbClr val="92D050"/>
              </a:solidFill>
              <a:cs typeface="+mj-cs"/>
            </a:endParaRPr>
          </a:p>
          <a:p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  <a:p>
            <a:endParaRPr lang="en-US" altLang="zh-CN" sz="1500" dirty="0" smtClean="0">
              <a:solidFill>
                <a:srgbClr val="FF0000"/>
              </a:solidFill>
              <a:sym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sz="1100" dirty="0">
              <a:solidFill>
                <a:srgbClr val="808080"/>
              </a:solidFill>
              <a:sym typeface="微软雅黑" panose="020B0503020204020204" pitchFamily="34" charset="-122"/>
            </a:endParaRPr>
          </a:p>
          <a:p>
            <a:pPr lvl="0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456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什么是</a:t>
            </a:r>
            <a:r>
              <a:rPr lang="en-US" altLang="zh-CN" dirty="0" smtClean="0"/>
              <a:t>bootstrap</a:t>
            </a:r>
            <a:endParaRPr lang="zh-CN" altLang="en-US" dirty="0"/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838200" y="1836016"/>
            <a:ext cx="10515600" cy="401039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2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4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0">
              <a:buClr>
                <a:srgbClr val="808080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简介：</a:t>
            </a:r>
            <a:r>
              <a:rPr lang="en-US" altLang="zh-CN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Bootstrap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LESS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项目为基础，由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Twitter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的内部工程师开发，它为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Web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应用程序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UI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提供了一致的框架。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0">
              <a:buClr>
                <a:srgbClr val="808080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Wingdings"/>
              </a:rPr>
              <a:t>作用：非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/>
              </a:rPr>
              <a:t>设计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sym typeface="Wingdings"/>
              </a:rPr>
              <a:t>人员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使用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Bootstrap 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可以快速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开发网站和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Web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应用程序（包括移动友好型应用程序）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。</a:t>
            </a:r>
            <a:endParaRPr lang="en-US" altLang="zh-CN" sz="24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0">
              <a:buClr>
                <a:srgbClr val="808080"/>
              </a:buClr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目标</a:t>
            </a:r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设法解决用于网页开发的许多不同组件，同时支持合理的灵活性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  <a:p>
            <a:endParaRPr lang="en-US" altLang="zh-CN" sz="1500" dirty="0" smtClean="0">
              <a:solidFill>
                <a:srgbClr val="FF0000"/>
              </a:solidFill>
              <a:sym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sz="1100" dirty="0">
              <a:solidFill>
                <a:srgbClr val="808080"/>
              </a:solidFill>
              <a:sym typeface="微软雅黑" panose="020B0503020204020204" pitchFamily="34" charset="-122"/>
            </a:endParaRPr>
          </a:p>
          <a:p>
            <a:pPr lvl="0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85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为什么选择</a:t>
            </a:r>
            <a:r>
              <a:rPr lang="en-US" altLang="zh-CN" dirty="0" smtClean="0"/>
              <a:t>bootstrap</a:t>
            </a:r>
            <a:endParaRPr lang="zh-CN" altLang="en-US" dirty="0"/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838200" y="1836016"/>
            <a:ext cx="10515600" cy="4010399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2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4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800" dirty="0"/>
              <a:t>## </a:t>
            </a:r>
            <a:r>
              <a:rPr lang="zh-CN" altLang="en-US" sz="1800" dirty="0"/>
              <a:t>基于 </a:t>
            </a:r>
            <a:r>
              <a:rPr lang="en-US" altLang="zh-CN" sz="1800" dirty="0"/>
              <a:t>Less</a:t>
            </a:r>
            <a:r>
              <a:rPr lang="zh-CN" altLang="en-US" sz="1800" dirty="0"/>
              <a:t>、丰富的 </a:t>
            </a:r>
            <a:r>
              <a:rPr lang="en-US" altLang="zh-CN" sz="1800" dirty="0" err="1" smtClean="0"/>
              <a:t>Mixin</a:t>
            </a:r>
            <a:endParaRPr lang="en-US" altLang="zh-CN" sz="1800" dirty="0" smtClean="0"/>
          </a:p>
          <a:p>
            <a:pPr marL="457200" lvl="1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600" dirty="0" smtClean="0"/>
              <a:t>- </a:t>
            </a:r>
            <a:r>
              <a:rPr lang="zh-CN" altLang="en-US" sz="1600" dirty="0" smtClean="0"/>
              <a:t>基于 </a:t>
            </a:r>
            <a:r>
              <a:rPr lang="en-US" altLang="zh-CN" sz="1600" dirty="0"/>
              <a:t>Less </a:t>
            </a:r>
            <a:r>
              <a:rPr lang="zh-CN" altLang="en-US" sz="1600" dirty="0"/>
              <a:t>打造的，并且也有 </a:t>
            </a:r>
            <a:r>
              <a:rPr lang="en-US" altLang="zh-CN" sz="1600" dirty="0"/>
              <a:t>[Sass</a:t>
            </a:r>
            <a:r>
              <a:rPr lang="zh-CN" altLang="en-US" sz="1600" dirty="0"/>
              <a:t>版本</a:t>
            </a:r>
            <a:r>
              <a:rPr lang="en-US" altLang="zh-CN" sz="1600" dirty="0" smtClean="0"/>
              <a:t>]</a:t>
            </a:r>
            <a:r>
              <a:rPr lang="zh-CN" altLang="en-US" sz="1600" dirty="0" smtClean="0"/>
              <a:t>，</a:t>
            </a:r>
            <a:r>
              <a:rPr lang="zh-CN" altLang="en-US" sz="1600" dirty="0"/>
              <a:t>包含了一个非常实用的 </a:t>
            </a:r>
            <a:r>
              <a:rPr lang="en-US" altLang="zh-CN" sz="1600" dirty="0" err="1"/>
              <a:t>Mixin</a:t>
            </a:r>
            <a:r>
              <a:rPr lang="en-US" altLang="zh-CN" sz="1600" dirty="0"/>
              <a:t> </a:t>
            </a:r>
            <a:r>
              <a:rPr lang="zh-CN" altLang="en-US" sz="1600" dirty="0" smtClean="0"/>
              <a:t>库</a:t>
            </a:r>
            <a:endParaRPr lang="en-US" altLang="zh-CN" sz="1600" dirty="0" smtClean="0"/>
          </a:p>
          <a:p>
            <a:pPr marL="457200" lvl="1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600" dirty="0" smtClean="0">
                <a:solidFill>
                  <a:srgbClr val="000000"/>
                </a:solidFill>
              </a:rPr>
              <a:t>- </a:t>
            </a:r>
            <a:r>
              <a:rPr lang="zh-CN" altLang="en-US" sz="1600" dirty="0" smtClean="0">
                <a:solidFill>
                  <a:srgbClr val="000000"/>
                </a:solidFill>
              </a:rPr>
              <a:t>例</a:t>
            </a:r>
            <a:r>
              <a:rPr lang="zh-CN" altLang="en-US" sz="1600" dirty="0">
                <a:solidFill>
                  <a:srgbClr val="000000"/>
                </a:solidFill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</a:rPr>
              <a:t>@include border-radius (10px); </a:t>
            </a:r>
            <a:r>
              <a:rPr lang="zh-CN" altLang="en-US" sz="1600" dirty="0">
                <a:solidFill>
                  <a:srgbClr val="000000"/>
                </a:solidFill>
              </a:rPr>
              <a:t>处理了浏览器兼容性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0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800" dirty="0"/>
              <a:t>## </a:t>
            </a:r>
            <a:r>
              <a:rPr lang="zh-CN" altLang="en-US" sz="1800" dirty="0"/>
              <a:t>可以 </a:t>
            </a:r>
            <a:r>
              <a:rPr lang="en-US" altLang="zh-CN" sz="1800" dirty="0"/>
              <a:t>Responsive </a:t>
            </a:r>
            <a:r>
              <a:rPr lang="zh-CN" altLang="en-US" sz="1800" dirty="0"/>
              <a:t>的栅格系统 </a:t>
            </a:r>
            <a:endParaRPr lang="en-US" altLang="zh-CN" sz="1800" dirty="0" smtClean="0"/>
          </a:p>
          <a:p>
            <a:pPr marL="457200" lvl="1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600" dirty="0" smtClean="0">
                <a:solidFill>
                  <a:srgbClr val="000000"/>
                </a:solidFill>
              </a:rPr>
              <a:t>- Bootstrap </a:t>
            </a:r>
            <a:r>
              <a:rPr lang="zh-CN" altLang="en-US" sz="1600" dirty="0">
                <a:solidFill>
                  <a:srgbClr val="000000"/>
                </a:solidFill>
              </a:rPr>
              <a:t>搭好了实现 </a:t>
            </a:r>
            <a:r>
              <a:rPr lang="en-US" altLang="zh-CN" sz="1600" dirty="0">
                <a:solidFill>
                  <a:srgbClr val="000000"/>
                </a:solidFill>
              </a:rPr>
              <a:t>Responsive Design </a:t>
            </a:r>
            <a:r>
              <a:rPr lang="zh-CN" altLang="en-US" sz="1600" dirty="0">
                <a:solidFill>
                  <a:srgbClr val="000000"/>
                </a:solidFill>
              </a:rPr>
              <a:t>的基础框架，并且非常容易修改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0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800" dirty="0"/>
              <a:t>## </a:t>
            </a:r>
            <a:r>
              <a:rPr lang="zh-CN" altLang="en-US" sz="1800" dirty="0"/>
              <a:t>丰富的</a:t>
            </a:r>
            <a:r>
              <a:rPr lang="zh-CN" altLang="en-US" sz="1800" dirty="0" smtClean="0"/>
              <a:t>组件</a:t>
            </a:r>
            <a:endParaRPr lang="en-US" altLang="zh-CN" sz="1800" dirty="0" smtClean="0"/>
          </a:p>
          <a:p>
            <a:pPr marL="457200" lvl="1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600" dirty="0" smtClean="0">
                <a:solidFill>
                  <a:srgbClr val="000000"/>
                </a:solidFill>
              </a:rPr>
              <a:t>- HTML</a:t>
            </a:r>
            <a:r>
              <a:rPr lang="zh-CN" altLang="en-US" sz="1600" dirty="0">
                <a:solidFill>
                  <a:srgbClr val="000000"/>
                </a:solidFill>
              </a:rPr>
              <a:t>组件和</a:t>
            </a:r>
            <a:r>
              <a:rPr lang="en-US" altLang="zh-CN" sz="1600" dirty="0">
                <a:solidFill>
                  <a:srgbClr val="000000"/>
                </a:solidFill>
              </a:rPr>
              <a:t>JS</a:t>
            </a:r>
            <a:r>
              <a:rPr lang="zh-CN" altLang="en-US" sz="1600" dirty="0" smtClean="0">
                <a:solidFill>
                  <a:srgbClr val="000000"/>
                </a:solidFill>
              </a:rPr>
              <a:t>组件：</a:t>
            </a:r>
            <a:r>
              <a:rPr lang="zh-CN" altLang="en-US" sz="1600" dirty="0">
                <a:solidFill>
                  <a:srgbClr val="000000"/>
                </a:solidFill>
              </a:rPr>
              <a:t>用于创建图像、下拉菜单、导航、警告框、弹出框等等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0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800" dirty="0"/>
              <a:t>## </a:t>
            </a:r>
            <a:r>
              <a:rPr lang="zh-CN" altLang="en-US" sz="1800" dirty="0" smtClean="0"/>
              <a:t>插件</a:t>
            </a:r>
            <a:endParaRPr lang="en-US" altLang="zh-CN" sz="1800" dirty="0" smtClean="0"/>
          </a:p>
          <a:p>
            <a:pPr lvl="1">
              <a:buClr>
                <a:srgbClr val="808080"/>
              </a:buClr>
              <a:buFontTx/>
              <a:buChar char="-"/>
              <a:defRPr sz="1800">
                <a:solidFill>
                  <a:srgbClr val="000000"/>
                </a:solidFill>
              </a:defRPr>
            </a:pPr>
            <a:r>
              <a:rPr lang="en-US" altLang="zh-CN" sz="1600" dirty="0" smtClean="0"/>
              <a:t>[</a:t>
            </a:r>
            <a:r>
              <a:rPr lang="en-US" altLang="zh-CN" sz="1600" dirty="0"/>
              <a:t>Font Awesome</a:t>
            </a:r>
            <a:r>
              <a:rPr lang="en-US" altLang="zh-CN" sz="1600" dirty="0" smtClean="0"/>
              <a:t>]</a:t>
            </a:r>
            <a:r>
              <a:rPr lang="zh-CN" altLang="en-US" sz="1600" dirty="0" smtClean="0"/>
              <a:t>，</a:t>
            </a:r>
            <a:r>
              <a:rPr lang="zh-CN" altLang="en-US" sz="1600" dirty="0"/>
              <a:t>一套 </a:t>
            </a:r>
            <a:r>
              <a:rPr lang="en-US" altLang="zh-CN" sz="1600" dirty="0"/>
              <a:t>icon font</a:t>
            </a:r>
            <a:r>
              <a:rPr lang="zh-CN" altLang="en-US" sz="1600" dirty="0"/>
              <a:t>，提供了丰富的 </a:t>
            </a:r>
            <a:r>
              <a:rPr lang="en-US" altLang="zh-CN" sz="1600" dirty="0"/>
              <a:t>icon </a:t>
            </a:r>
            <a:r>
              <a:rPr lang="zh-CN" altLang="en-US" sz="1600" dirty="0" smtClean="0"/>
              <a:t>供选择</a:t>
            </a:r>
            <a:endParaRPr lang="en-US" altLang="zh-CN" sz="1600" dirty="0" smtClean="0"/>
          </a:p>
          <a:p>
            <a:pPr marL="0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en-US" altLang="zh-CN" sz="1800" dirty="0">
                <a:solidFill>
                  <a:srgbClr val="000000"/>
                </a:solidFill>
              </a:rPr>
              <a:t>##Bootstrap </a:t>
            </a:r>
            <a:r>
              <a:rPr lang="zh-CN" altLang="en-US" sz="1800" dirty="0">
                <a:solidFill>
                  <a:srgbClr val="000000"/>
                </a:solidFill>
              </a:rPr>
              <a:t>是移动设备优先</a:t>
            </a:r>
            <a:r>
              <a:rPr lang="zh-CN" altLang="en-US" sz="1800" dirty="0" smtClean="0">
                <a:solidFill>
                  <a:srgbClr val="000000"/>
                </a:solidFill>
              </a:rPr>
              <a:t>的，</a:t>
            </a:r>
            <a:r>
              <a:rPr lang="zh-CN" altLang="en-US" sz="1800" dirty="0">
                <a:solidFill>
                  <a:srgbClr val="000000"/>
                </a:solidFill>
              </a:rPr>
              <a:t>响应式设计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0" indent="0">
              <a:buClr>
                <a:srgbClr val="808080"/>
              </a:buClr>
              <a:buNone/>
              <a:defRPr sz="1800">
                <a:solidFill>
                  <a:srgbClr val="000000"/>
                </a:solidFill>
              </a:defRPr>
            </a:pPr>
            <a:endParaRPr lang="en-US" altLang="zh-CN" sz="22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sym typeface="微软雅黑" panose="020B0503020204020204" pitchFamily="34" charset="-122"/>
            </a:endParaRPr>
          </a:p>
          <a:p>
            <a:endParaRPr lang="en-US" altLang="zh-CN" sz="1500" dirty="0" smtClean="0">
              <a:solidFill>
                <a:srgbClr val="FF0000"/>
              </a:solidFill>
              <a:sym typeface="微软雅黑" panose="020B0503020204020204" pitchFamily="34" charset="-122"/>
            </a:endParaRPr>
          </a:p>
          <a:p>
            <a:pPr marL="457200" lvl="1" indent="0">
              <a:buNone/>
            </a:pPr>
            <a:endParaRPr lang="en-US" altLang="zh-CN" sz="1100" dirty="0">
              <a:solidFill>
                <a:srgbClr val="808080"/>
              </a:solidFill>
              <a:sym typeface="微软雅黑" panose="020B0503020204020204" pitchFamily="34" charset="-122"/>
            </a:endParaRPr>
          </a:p>
          <a:p>
            <a:pPr lvl="0">
              <a:buClr>
                <a:srgbClr val="808080"/>
              </a:buClr>
              <a:defRPr sz="1800">
                <a:solidFill>
                  <a:srgbClr val="000000"/>
                </a:solidFill>
              </a:defRPr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18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smtClean="0"/>
              <a:t>bootstrap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31" y="1068574"/>
            <a:ext cx="3564514" cy="3122988"/>
          </a:xfrm>
          <a:prstGeom prst="rect">
            <a:avLst/>
          </a:prstGeom>
        </p:spPr>
      </p:pic>
      <p:pic>
        <p:nvPicPr>
          <p:cNvPr id="9" name="内容占位符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060" y="4191562"/>
            <a:ext cx="5245448" cy="2410071"/>
          </a:xfr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24" y="1690688"/>
            <a:ext cx="5048067" cy="295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UI</a:t>
            </a:r>
            <a:r>
              <a:rPr lang="zh-CN" altLang="en-US" dirty="0" smtClean="0"/>
              <a:t>组第二阶段任务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600" dirty="0" smtClean="0"/>
              <a:t>1.</a:t>
            </a:r>
            <a:r>
              <a:rPr lang="zh-CN" altLang="en-US" sz="1600" dirty="0" smtClean="0"/>
              <a:t>支持浦岩</a:t>
            </a:r>
            <a:r>
              <a:rPr lang="en-US" altLang="zh-CN" sz="1600" dirty="0" err="1" smtClean="0"/>
              <a:t>WebTest</a:t>
            </a:r>
            <a:r>
              <a:rPr lang="zh-CN" altLang="en-US" sz="1600" dirty="0" smtClean="0"/>
              <a:t>平台开发</a:t>
            </a:r>
            <a:endParaRPr lang="en-US" altLang="zh-CN" sz="1600" dirty="0" smtClean="0"/>
          </a:p>
          <a:p>
            <a:r>
              <a:rPr lang="en-US" altLang="zh-CN" sz="1600" dirty="0" smtClean="0"/>
              <a:t>2.UI</a:t>
            </a:r>
            <a:r>
              <a:rPr lang="zh-CN" altLang="en-US" sz="1600" dirty="0" smtClean="0"/>
              <a:t>风格确定，换肤版本计划</a:t>
            </a:r>
            <a:endParaRPr lang="en-US" altLang="zh-CN" sz="1600" dirty="0" smtClean="0"/>
          </a:p>
          <a:p>
            <a:r>
              <a:rPr lang="en-US" altLang="zh-CN" sz="1600" dirty="0" smtClean="0"/>
              <a:t>3.</a:t>
            </a:r>
            <a:r>
              <a:rPr lang="zh-CN" altLang="en-US" sz="1600" dirty="0"/>
              <a:t>可拖拽通用组件</a:t>
            </a:r>
            <a:r>
              <a:rPr lang="zh-CN" altLang="en-US" sz="1600" dirty="0" smtClean="0"/>
              <a:t>梳理</a:t>
            </a:r>
            <a:endParaRPr lang="en-US" altLang="zh-CN" sz="1600" dirty="0" smtClean="0"/>
          </a:p>
          <a:p>
            <a:r>
              <a:rPr lang="en-US" altLang="zh-CN" sz="1600" dirty="0" smtClean="0"/>
              <a:t>4.</a:t>
            </a:r>
            <a:r>
              <a:rPr lang="zh-CN" altLang="en-US" sz="1600" dirty="0"/>
              <a:t>组件与</a:t>
            </a:r>
            <a:r>
              <a:rPr lang="en-US" altLang="zh-CN" sz="1600" dirty="0" err="1"/>
              <a:t>layoutit</a:t>
            </a:r>
            <a:r>
              <a:rPr lang="zh-CN" altLang="en-US" sz="1600" dirty="0" smtClean="0"/>
              <a:t>整合</a:t>
            </a:r>
            <a:endParaRPr lang="en-US" altLang="zh-CN" sz="1600" dirty="0"/>
          </a:p>
          <a:p>
            <a:r>
              <a:rPr lang="en-US" altLang="zh-CN" sz="1600" dirty="0" smtClean="0"/>
              <a:t>5.angularJS</a:t>
            </a:r>
            <a:r>
              <a:rPr lang="zh-CN" altLang="en-US" sz="1600" dirty="0" smtClean="0"/>
              <a:t>与</a:t>
            </a:r>
            <a:r>
              <a:rPr lang="en-US" altLang="zh-CN" sz="1600" dirty="0" smtClean="0"/>
              <a:t>UI</a:t>
            </a:r>
            <a:r>
              <a:rPr lang="zh-CN" altLang="en-US" sz="1600" dirty="0" smtClean="0"/>
              <a:t>框架</a:t>
            </a:r>
            <a:r>
              <a:rPr lang="zh-CN" altLang="en-US" sz="1600" smtClean="0"/>
              <a:t>的结合</a:t>
            </a:r>
            <a:endParaRPr lang="en-US" altLang="zh-CN" sz="1600" dirty="0" smtClean="0"/>
          </a:p>
          <a:p>
            <a:r>
              <a:rPr lang="en-US" altLang="zh-CN" sz="1600" dirty="0" smtClean="0"/>
              <a:t>6.bootstrap</a:t>
            </a:r>
            <a:r>
              <a:rPr lang="zh-CN" altLang="en-US" sz="1600" dirty="0"/>
              <a:t>技术深入学习</a:t>
            </a:r>
          </a:p>
          <a:p>
            <a:endParaRPr lang="en-US" altLang="zh-CN" sz="1600" dirty="0" smtClean="0"/>
          </a:p>
        </p:txBody>
      </p:sp>
    </p:spTree>
    <p:extLst>
      <p:ext uri="{BB962C8B-B14F-4D97-AF65-F5344CB8AC3E}">
        <p14:creationId xmlns:p14="http://schemas.microsoft.com/office/powerpoint/2010/main" val="2219828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251507"/>
      </p:ext>
    </p:extLst>
  </p:cSld>
  <p:clrMapOvr>
    <a:masterClrMapping/>
  </p:clrMapOvr>
</p:sld>
</file>

<file path=ppt/theme/theme1.xml><?xml version="1.0" encoding="utf-8"?>
<a:theme xmlns:a="http://schemas.openxmlformats.org/drawingml/2006/main" name="PPT模板-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爱奇艺公司PPT模板" id="{95DD2D87-9047-4546-B7CA-66D57F83541F}" vid="{62BFA665-1A21-491F-A1FF-58E62419C624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3148</TotalTime>
  <Words>684</Words>
  <Application>Microsoft Office PowerPoint</Application>
  <PresentationFormat>宽屏</PresentationFormat>
  <Paragraphs>109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宋体</vt:lpstr>
      <vt:lpstr>微软雅黑</vt:lpstr>
      <vt:lpstr>Arial</vt:lpstr>
      <vt:lpstr>Calibri</vt:lpstr>
      <vt:lpstr>Wingdings</vt:lpstr>
      <vt:lpstr>PPT模板-2</vt:lpstr>
      <vt:lpstr>angularJs简介</vt:lpstr>
      <vt:lpstr>UI第一阶段进展</vt:lpstr>
      <vt:lpstr>概述</vt:lpstr>
      <vt:lpstr>适用场景</vt:lpstr>
      <vt:lpstr>Angular VS jQuery</vt:lpstr>
      <vt:lpstr>特点</vt:lpstr>
      <vt:lpstr>简介 ECharts，缩写来自Enterprise Charts，商业级数据图表，一个纯Javascript的图表库，可以流畅的运行在PC和移动设备上，兼容当前绝大部分浏览器（IE6/7/8/9/10/11，chrome，firefox，Safari等），底层依赖轻量级的Canvas类库ZRender，提供直观，生动，可交互，可高度个性化定制的数据可视化图表。创新的拖拽重计算、数据视图、值域漫游等特性大大增强了用户体验，赋予了用户对数据进行挖掘、整合的能力。</vt:lpstr>
      <vt:lpstr>PowerPoint 演示文稿</vt:lpstr>
      <vt:lpstr>特性（http://echarts.baidu.com/doc/feature.html）</vt:lpstr>
      <vt:lpstr>PowerPoint 演示文稿</vt:lpstr>
      <vt:lpstr>引入ECharts</vt:lpstr>
      <vt:lpstr>什么是bootstrap</vt:lpstr>
      <vt:lpstr>为什么选择bootstrap</vt:lpstr>
      <vt:lpstr>使用bootstrap</vt:lpstr>
      <vt:lpstr>UI组第二阶段任务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xupeng</dc:creator>
  <cp:lastModifiedBy>张志明</cp:lastModifiedBy>
  <cp:revision>295</cp:revision>
  <dcterms:created xsi:type="dcterms:W3CDTF">2015-01-19T08:42:20Z</dcterms:created>
  <dcterms:modified xsi:type="dcterms:W3CDTF">2015-09-02T02:08:56Z</dcterms:modified>
</cp:coreProperties>
</file>